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9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880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346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380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85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372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457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66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513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743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653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2816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14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 descr="Colored pencils inside a pencil holder which is on top of a wood table">
            <a:extLst>
              <a:ext uri="{FF2B5EF4-FFF2-40B4-BE49-F238E27FC236}">
                <a16:creationId xmlns:a16="http://schemas.microsoft.com/office/drawing/2014/main" id="{0224CC56-69DE-A6B8-CB90-74A9531859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46" t="23391" r="6744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2E284DE-AB43-1296-3166-892F44A3A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BF4D34-44CA-B85B-9AA1-B88790944E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5" y="701964"/>
            <a:ext cx="5370950" cy="3640303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 b="0" u="sng">
                <a:solidFill>
                  <a:srgbClr val="FFFFFF"/>
                </a:solidFill>
                <a:latin typeface="Arial Rounded MT Bold" panose="020F0704030504030204" pitchFamily="34" charset="0"/>
              </a:rPr>
              <a:t>BISTRO</a:t>
            </a:r>
            <a:br>
              <a:rPr lang="he-IL" sz="1500">
                <a:solidFill>
                  <a:srgbClr val="FFFFFF"/>
                </a:solidFill>
                <a:latin typeface="Arial Rounded MT Bold" panose="020F0704030504030204" pitchFamily="34" charset="0"/>
              </a:rPr>
            </a:br>
            <a:br>
              <a:rPr lang="en-US" sz="1500">
                <a:solidFill>
                  <a:srgbClr val="FFFFFF"/>
                </a:solidFill>
                <a:latin typeface="Arial Rounded MT Bold" panose="020F0704030504030204" pitchFamily="34" charset="0"/>
              </a:rPr>
            </a:br>
            <a:br>
              <a:rPr lang="he-IL" sz="1500">
                <a:solidFill>
                  <a:srgbClr val="FFFFFF"/>
                </a:solidFill>
                <a:latin typeface="Arial Rounded MT Bold" panose="020F0704030504030204" pitchFamily="34" charset="0"/>
              </a:rPr>
            </a:br>
            <a:r>
              <a:rPr lang="he-IL" sz="1500">
                <a:solidFill>
                  <a:srgbClr val="FFFFFF"/>
                </a:solidFill>
                <a:latin typeface="Arial Rounded MT Bold" panose="020F0704030504030204" pitchFamily="34" charset="0"/>
              </a:rPr>
              <a:t>-שם הקורס: </a:t>
            </a:r>
            <a:r>
              <a:rPr lang="he-IL" sz="1500" b="0">
                <a:solidFill>
                  <a:srgbClr val="FFFFFF"/>
                </a:solidFill>
                <a:latin typeface="Arial Rounded MT Bold" panose="020F0704030504030204" pitchFamily="34" charset="0"/>
              </a:rPr>
              <a:t>שיטות הנדסיות לפיתוח מערכות תוכנה</a:t>
            </a:r>
            <a:br>
              <a:rPr lang="en-US" sz="1500" b="0">
                <a:solidFill>
                  <a:srgbClr val="FFFFFF"/>
                </a:solidFill>
                <a:latin typeface="Arial Rounded MT Bold" panose="020F0704030504030204" pitchFamily="34" charset="0"/>
              </a:rPr>
            </a:br>
            <a:br>
              <a:rPr lang="en-US" sz="1500" b="0">
                <a:solidFill>
                  <a:srgbClr val="FFFFFF"/>
                </a:solidFill>
                <a:latin typeface="Arial Rounded MT Bold" panose="020F0704030504030204" pitchFamily="34" charset="0"/>
              </a:rPr>
            </a:br>
            <a:br>
              <a:rPr lang="he-IL" sz="1500" b="0">
                <a:solidFill>
                  <a:srgbClr val="FFFFFF"/>
                </a:solidFill>
                <a:latin typeface="Arial Rounded MT Bold" panose="020F0704030504030204" pitchFamily="34" charset="0"/>
              </a:rPr>
            </a:br>
            <a:r>
              <a:rPr lang="he-IL" sz="1500">
                <a:solidFill>
                  <a:srgbClr val="FFFFFF"/>
                </a:solidFill>
                <a:latin typeface="Arial Rounded MT Bold" panose="020F0704030504030204" pitchFamily="34" charset="0"/>
              </a:rPr>
              <a:t>-חברי הצוות: </a:t>
            </a:r>
            <a:br>
              <a:rPr lang="he-IL" sz="1500">
                <a:solidFill>
                  <a:srgbClr val="FFFFFF"/>
                </a:solidFill>
                <a:latin typeface="Arial Rounded MT Bold" panose="020F0704030504030204" pitchFamily="34" charset="0"/>
              </a:rPr>
            </a:br>
            <a:r>
              <a:rPr lang="he-IL" sz="1500" b="0">
                <a:solidFill>
                  <a:srgbClr val="FFFFFF"/>
                </a:solidFill>
                <a:latin typeface="Arial Rounded MT Bold" panose="020F0704030504030204" pitchFamily="34" charset="0"/>
              </a:rPr>
              <a:t>מוחמד דחאברה</a:t>
            </a:r>
            <a:br>
              <a:rPr lang="he-IL" sz="1500" b="0">
                <a:solidFill>
                  <a:srgbClr val="FFFFFF"/>
                </a:solidFill>
                <a:latin typeface="Arial Rounded MT Bold" panose="020F0704030504030204" pitchFamily="34" charset="0"/>
              </a:rPr>
            </a:br>
            <a:r>
              <a:rPr lang="he-IL" sz="1500" b="0">
                <a:solidFill>
                  <a:srgbClr val="FFFFFF"/>
                </a:solidFill>
                <a:latin typeface="Arial Rounded MT Bold" panose="020F0704030504030204" pitchFamily="34" charset="0"/>
              </a:rPr>
              <a:t>מוחמד בדארנה</a:t>
            </a:r>
            <a:br>
              <a:rPr lang="he-IL" sz="1500" b="0">
                <a:solidFill>
                  <a:srgbClr val="FFFFFF"/>
                </a:solidFill>
                <a:latin typeface="Arial Rounded MT Bold" panose="020F0704030504030204" pitchFamily="34" charset="0"/>
              </a:rPr>
            </a:br>
            <a:r>
              <a:rPr lang="he-IL" sz="1500" b="0">
                <a:solidFill>
                  <a:srgbClr val="FFFFFF"/>
                </a:solidFill>
                <a:latin typeface="Arial Rounded MT Bold" panose="020F0704030504030204" pitchFamily="34" charset="0"/>
              </a:rPr>
              <a:t>עאדל בשיר</a:t>
            </a:r>
            <a:br>
              <a:rPr lang="he-IL" sz="1500" b="0">
                <a:solidFill>
                  <a:srgbClr val="FFFFFF"/>
                </a:solidFill>
                <a:latin typeface="Arial Rounded MT Bold" panose="020F0704030504030204" pitchFamily="34" charset="0"/>
              </a:rPr>
            </a:br>
            <a:r>
              <a:rPr lang="he-IL" sz="1500" b="0">
                <a:solidFill>
                  <a:srgbClr val="FFFFFF"/>
                </a:solidFill>
                <a:latin typeface="Arial Rounded MT Bold" panose="020F0704030504030204" pitchFamily="34" charset="0"/>
              </a:rPr>
              <a:t>ויקטור מועלם</a:t>
            </a:r>
            <a:br>
              <a:rPr lang="he-IL" sz="1500" b="0">
                <a:solidFill>
                  <a:srgbClr val="FFFFFF"/>
                </a:solidFill>
                <a:latin typeface="Arial Rounded MT Bold" panose="020F0704030504030204" pitchFamily="34" charset="0"/>
              </a:rPr>
            </a:br>
            <a:r>
              <a:rPr lang="he-IL" sz="1500" b="0">
                <a:solidFill>
                  <a:srgbClr val="FFFFFF"/>
                </a:solidFill>
                <a:latin typeface="Arial Rounded MT Bold" panose="020F0704030504030204" pitchFamily="34" charset="0"/>
              </a:rPr>
              <a:t>אסראא חוסין</a:t>
            </a:r>
            <a:br>
              <a:rPr lang="he-IL" sz="1500" b="0">
                <a:solidFill>
                  <a:srgbClr val="FFFFFF"/>
                </a:solidFill>
                <a:latin typeface="Arial Rounded MT Bold" panose="020F0704030504030204" pitchFamily="34" charset="0"/>
              </a:rPr>
            </a:br>
            <a:br>
              <a:rPr lang="en-US" sz="1500" b="0">
                <a:solidFill>
                  <a:srgbClr val="FFFFFF"/>
                </a:solidFill>
                <a:latin typeface="Arial Rounded MT Bold" panose="020F0704030504030204" pitchFamily="34" charset="0"/>
              </a:rPr>
            </a:br>
            <a:br>
              <a:rPr lang="en-US" sz="1500" b="0">
                <a:solidFill>
                  <a:srgbClr val="FFFFFF"/>
                </a:solidFill>
                <a:latin typeface="Arial Rounded MT Bold" panose="020F0704030504030204" pitchFamily="34" charset="0"/>
              </a:rPr>
            </a:br>
            <a:br>
              <a:rPr lang="he-IL" sz="1500" b="0">
                <a:solidFill>
                  <a:srgbClr val="FFFFFF"/>
                </a:solidFill>
                <a:latin typeface="Arial Rounded MT Bold" panose="020F0704030504030204" pitchFamily="34" charset="0"/>
              </a:rPr>
            </a:br>
            <a:r>
              <a:rPr lang="he-IL" sz="1500">
                <a:solidFill>
                  <a:srgbClr val="FFFFFF"/>
                </a:solidFill>
                <a:latin typeface="Arial Rounded MT Bold" panose="020F0704030504030204" pitchFamily="34" charset="0"/>
              </a:rPr>
              <a:t>תהליך עבודת הצוות והלמידה ממנו</a:t>
            </a:r>
            <a:endParaRPr lang="he-IL" sz="1500" b="0">
              <a:solidFill>
                <a:srgbClr val="FFFFFF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32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09431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A1294-D3D0-836E-0DC5-76F0069D1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7714" y="228599"/>
            <a:ext cx="6675120" cy="691243"/>
          </a:xfrm>
        </p:spPr>
        <p:txBody>
          <a:bodyPr>
            <a:normAutofit/>
          </a:bodyPr>
          <a:lstStyle/>
          <a:p>
            <a:pPr algn="ctr"/>
            <a:r>
              <a:rPr lang="he-IL" sz="2000" u="sng" dirty="0"/>
              <a:t>מסמך ההסכמות (תמצית)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ACD754-4B80-F5F2-9C7A-79B6E9FE5B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736" y="696686"/>
            <a:ext cx="11301550" cy="6063344"/>
          </a:xfrm>
        </p:spPr>
        <p:txBody>
          <a:bodyPr>
            <a:noAutofit/>
          </a:bodyPr>
          <a:lstStyle/>
          <a:p>
            <a:pPr lvl="1" algn="r">
              <a:lnSpc>
                <a:spcPct val="150000"/>
              </a:lnSpc>
            </a:pPr>
            <a:r>
              <a:rPr lang="he-IL" sz="1600" b="1" dirty="0">
                <a:latin typeface="Arial" panose="020B0604020202020204" pitchFamily="34" charset="0"/>
                <a:cs typeface="Arial" panose="020B0604020202020204" pitchFamily="34" charset="0"/>
              </a:rPr>
              <a:t>-מטרת הצוות והצלחה </a:t>
            </a:r>
            <a:r>
              <a:rPr lang="he-IL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צוותית</a:t>
            </a:r>
            <a:r>
              <a:rPr lang="he-IL" sz="16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 algn="r">
              <a:lnSpc>
                <a:spcPct val="150000"/>
              </a:lnSpc>
            </a:pPr>
            <a:r>
              <a:rPr lang="he-IL" sz="1600" dirty="0">
                <a:latin typeface="Arial" panose="020B0604020202020204" pitchFamily="34" charset="0"/>
                <a:cs typeface="Arial" panose="020B0604020202020204" pitchFamily="34" charset="0"/>
              </a:rPr>
              <a:t>הצלחה = שיתוף פעולה, אחריות הדדית ותקשורת פתוחה</a:t>
            </a:r>
          </a:p>
          <a:p>
            <a:pPr lvl="1" algn="r">
              <a:lnSpc>
                <a:spcPct val="150000"/>
              </a:lnSpc>
            </a:pPr>
            <a:r>
              <a:rPr lang="he-IL" sz="1600" dirty="0">
                <a:latin typeface="Arial" panose="020B0604020202020204" pitchFamily="34" charset="0"/>
                <a:cs typeface="Arial" panose="020B0604020202020204" pitchFamily="34" charset="0"/>
              </a:rPr>
              <a:t>מדידה לפי התהליך </a:t>
            </a:r>
            <a:r>
              <a:rPr lang="he-IL" sz="1600" i="1" dirty="0">
                <a:latin typeface="Arial" panose="020B0604020202020204" pitchFamily="34" charset="0"/>
                <a:cs typeface="Arial" panose="020B0604020202020204" pitchFamily="34" charset="0"/>
              </a:rPr>
              <a:t>וגם</a:t>
            </a:r>
            <a:r>
              <a:rPr lang="he-IL" sz="1600" dirty="0">
                <a:latin typeface="Arial" panose="020B0604020202020204" pitchFamily="34" charset="0"/>
                <a:cs typeface="Arial" panose="020B0604020202020204" pitchFamily="34" charset="0"/>
              </a:rPr>
              <a:t> לפי התוצר (איכות, עמידה בזמנים, תחושת שייכות)</a:t>
            </a:r>
          </a:p>
          <a:p>
            <a:pPr lvl="1" algn="r">
              <a:lnSpc>
                <a:spcPct val="150000"/>
              </a:lnSpc>
            </a:pPr>
            <a:r>
              <a:rPr lang="he-IL" sz="1600" b="1" dirty="0">
                <a:latin typeface="Arial" panose="020B0604020202020204" pitchFamily="34" charset="0"/>
                <a:cs typeface="Arial" panose="020B0604020202020204" pitchFamily="34" charset="0"/>
              </a:rPr>
              <a:t>-מבנה הצוות:</a:t>
            </a:r>
          </a:p>
          <a:p>
            <a:pPr lvl="1" algn="r">
              <a:lnSpc>
                <a:spcPct val="150000"/>
              </a:lnSpc>
            </a:pPr>
            <a:r>
              <a:rPr lang="he-IL" sz="1600" dirty="0">
                <a:latin typeface="Arial" panose="020B0604020202020204" pitchFamily="34" charset="0"/>
                <a:cs typeface="Arial" panose="020B0604020202020204" pitchFamily="34" charset="0"/>
              </a:rPr>
              <a:t>5 חברים – לכל אחד תפקיד ברור וגבולות גזרה</a:t>
            </a:r>
          </a:p>
          <a:p>
            <a:pPr lvl="1" algn="r">
              <a:lnSpc>
                <a:spcPct val="150000"/>
              </a:lnSpc>
            </a:pPr>
            <a:r>
              <a:rPr lang="he-IL" sz="1600" dirty="0">
                <a:latin typeface="Arial" panose="020B0604020202020204" pitchFamily="34" charset="0"/>
                <a:cs typeface="Arial" panose="020B0604020202020204" pitchFamily="34" charset="0"/>
              </a:rPr>
              <a:t>אחריות אישית + אחריות קבוצתית</a:t>
            </a:r>
          </a:p>
          <a:p>
            <a:pPr lvl="1" algn="r">
              <a:lnSpc>
                <a:spcPct val="150000"/>
              </a:lnSpc>
            </a:pPr>
            <a:r>
              <a:rPr lang="he-IL" sz="1600" b="1" dirty="0">
                <a:latin typeface="Arial" panose="020B0604020202020204" pitchFamily="34" charset="0"/>
                <a:cs typeface="Arial" panose="020B0604020202020204" pitchFamily="34" charset="0"/>
              </a:rPr>
              <a:t>-מודל העבודה:</a:t>
            </a:r>
          </a:p>
          <a:p>
            <a:pPr lvl="1" algn="r">
              <a:lnSpc>
                <a:spcPct val="150000"/>
              </a:lnSpc>
            </a:pPr>
            <a:r>
              <a:rPr lang="he-IL" sz="1600" dirty="0">
                <a:latin typeface="Arial" panose="020B0604020202020204" pitchFamily="34" charset="0"/>
                <a:cs typeface="Arial" panose="020B0604020202020204" pitchFamily="34" charset="0"/>
              </a:rPr>
              <a:t>מודל צוות שיתופי</a:t>
            </a:r>
          </a:p>
          <a:p>
            <a:pPr lvl="1" algn="r">
              <a:lnSpc>
                <a:spcPct val="150000"/>
              </a:lnSpc>
            </a:pPr>
            <a:r>
              <a:rPr lang="he-IL" sz="1600" dirty="0">
                <a:latin typeface="Arial" panose="020B0604020202020204" pitchFamily="34" charset="0"/>
                <a:cs typeface="Arial" panose="020B0604020202020204" pitchFamily="34" charset="0"/>
              </a:rPr>
              <a:t>החלטות ודיונים משותפים, חלוקת תפקידים לפי חוזקות</a:t>
            </a:r>
          </a:p>
          <a:p>
            <a:pPr lvl="1" algn="r">
              <a:lnSpc>
                <a:spcPct val="150000"/>
              </a:lnSpc>
            </a:pPr>
            <a:r>
              <a:rPr lang="he-IL" sz="1600" dirty="0">
                <a:latin typeface="Arial" panose="020B0604020202020204" pitchFamily="34" charset="0"/>
                <a:cs typeface="Arial" panose="020B0604020202020204" pitchFamily="34" charset="0"/>
              </a:rPr>
              <a:t>בדיקה תקופתית האם המודל מתאים</a:t>
            </a:r>
          </a:p>
          <a:p>
            <a:pPr lvl="1" algn="r">
              <a:lnSpc>
                <a:spcPct val="150000"/>
              </a:lnSpc>
            </a:pPr>
            <a:r>
              <a:rPr lang="he-IL" sz="1600" b="1" dirty="0">
                <a:latin typeface="Arial" panose="020B0604020202020204" pitchFamily="34" charset="0"/>
                <a:cs typeface="Arial" panose="020B0604020202020204" pitchFamily="34" charset="0"/>
              </a:rPr>
              <a:t>-כללי עבודה:</a:t>
            </a:r>
          </a:p>
          <a:p>
            <a:pPr lvl="1" algn="r">
              <a:lnSpc>
                <a:spcPct val="150000"/>
              </a:lnSpc>
            </a:pPr>
            <a:r>
              <a:rPr lang="he-IL" sz="1600" dirty="0">
                <a:latin typeface="Arial" panose="020B0604020202020204" pitchFamily="34" charset="0"/>
                <a:cs typeface="Arial" panose="020B0604020202020204" pitchFamily="34" charset="0"/>
              </a:rPr>
              <a:t>מפגשים קבועים (פעם–פעמיים בשבוע)</a:t>
            </a:r>
          </a:p>
          <a:p>
            <a:pPr lvl="1" algn="r">
              <a:lnSpc>
                <a:spcPct val="150000"/>
              </a:lnSpc>
            </a:pPr>
            <a:r>
              <a:rPr lang="he-IL" sz="1600" dirty="0">
                <a:latin typeface="Arial" panose="020B0604020202020204" pitchFamily="34" charset="0"/>
                <a:cs typeface="Arial" panose="020B0604020202020204" pitchFamily="34" charset="0"/>
              </a:rPr>
              <a:t>תיעוד החלטות ומשימות</a:t>
            </a:r>
          </a:p>
          <a:p>
            <a:pPr lvl="1" algn="r">
              <a:lnSpc>
                <a:spcPct val="150000"/>
              </a:lnSpc>
            </a:pPr>
            <a:r>
              <a:rPr lang="he-IL" sz="1600" dirty="0">
                <a:latin typeface="Arial" panose="020B0604020202020204" pitchFamily="34" charset="0"/>
                <a:cs typeface="Arial" panose="020B0604020202020204" pitchFamily="34" charset="0"/>
              </a:rPr>
              <a:t>תקשורת מכבדת ושקופה</a:t>
            </a:r>
          </a:p>
          <a:p>
            <a:pPr lvl="1" algn="r">
              <a:lnSpc>
                <a:spcPct val="150000"/>
              </a:lnSpc>
            </a:pPr>
            <a:endParaRPr 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1385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38175-3484-1D1B-430C-4D7236783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9486" y="244711"/>
            <a:ext cx="3530008" cy="571717"/>
          </a:xfrm>
        </p:spPr>
        <p:txBody>
          <a:bodyPr>
            <a:noAutofit/>
          </a:bodyPr>
          <a:lstStyle/>
          <a:p>
            <a:pPr algn="r">
              <a:lnSpc>
                <a:spcPct val="150000"/>
              </a:lnSpc>
            </a:pPr>
            <a:r>
              <a:rPr lang="he-IL" sz="2000" u="sng" dirty="0"/>
              <a:t>תהליך העבודה: רצוי מול מצוי</a:t>
            </a:r>
            <a:br>
              <a:rPr lang="he-IL" sz="2000" u="sng" dirty="0"/>
            </a:br>
            <a:br>
              <a:rPr lang="he-IL" sz="2000" u="sng" dirty="0"/>
            </a:br>
            <a:br>
              <a:rPr lang="en-US" sz="2000" u="sng" dirty="0"/>
            </a:br>
            <a:br>
              <a:rPr lang="en-US" sz="2000" u="sng" dirty="0"/>
            </a:br>
            <a:br>
              <a:rPr lang="he-IL" sz="2000" u="sng" dirty="0"/>
            </a:br>
            <a:br>
              <a:rPr lang="he-IL" sz="2000" u="sng" dirty="0"/>
            </a:br>
            <a:endParaRPr lang="he-IL" sz="2000" u="s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20E6B8-C11D-21D8-9DDB-44ACD41A17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8194" y="1555786"/>
            <a:ext cx="5212080" cy="3566160"/>
          </a:xfrm>
        </p:spPr>
        <p:txBody>
          <a:bodyPr/>
          <a:lstStyle/>
          <a:p>
            <a:pPr algn="r"/>
            <a:r>
              <a:rPr lang="he-IL" b="1" dirty="0"/>
              <a:t>-המצוי (בפועל):</a:t>
            </a:r>
            <a:br>
              <a:rPr lang="en-US" dirty="0"/>
            </a:br>
            <a:br>
              <a:rPr lang="he-IL" dirty="0"/>
            </a:br>
            <a:r>
              <a:rPr lang="he-IL" dirty="0"/>
              <a:t>קושי בתיאום זמנים בין חברי הצוות</a:t>
            </a:r>
            <a:br>
              <a:rPr lang="he-IL" dirty="0"/>
            </a:br>
            <a:r>
              <a:rPr lang="he-IL" dirty="0"/>
              <a:t>עומס בתקופות מבחנים</a:t>
            </a:r>
            <a:br>
              <a:rPr lang="he-IL" dirty="0"/>
            </a:br>
            <a:r>
              <a:rPr lang="he-IL" dirty="0"/>
              <a:t>צורך בגמישות בחלוקת המשימות</a:t>
            </a:r>
            <a:br>
              <a:rPr lang="he-IL" dirty="0"/>
            </a:br>
            <a:r>
              <a:rPr lang="he-IL" dirty="0"/>
              <a:t>הסתגלות לכלים טכניים חדשים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10A9908-7D3B-7BAB-C014-EF2EA538F6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31726" y="1555786"/>
            <a:ext cx="5212080" cy="3566160"/>
          </a:xfrm>
        </p:spPr>
        <p:txBody>
          <a:bodyPr/>
          <a:lstStyle/>
          <a:p>
            <a:pPr algn="r"/>
            <a:r>
              <a:rPr lang="he-IL" b="1" dirty="0"/>
              <a:t>-הרצוי (לפי מסמך ההסכמות):</a:t>
            </a:r>
            <a:br>
              <a:rPr lang="he-IL" b="1" dirty="0"/>
            </a:br>
            <a:br>
              <a:rPr lang="he-IL" dirty="0"/>
            </a:br>
            <a:r>
              <a:rPr lang="he-IL" dirty="0"/>
              <a:t>עבודה שיתופית עם תפקידים ברורים</a:t>
            </a:r>
            <a:br>
              <a:rPr lang="he-IL" dirty="0"/>
            </a:br>
            <a:r>
              <a:rPr lang="he-IL" dirty="0"/>
              <a:t>מפגשים קבועים ותיאום מלא</a:t>
            </a:r>
            <a:br>
              <a:rPr lang="he-IL" dirty="0"/>
            </a:br>
            <a:r>
              <a:rPr lang="he-IL" dirty="0"/>
              <a:t>קבלת החלטות משותפת</a:t>
            </a:r>
            <a:br>
              <a:rPr lang="he-IL" dirty="0"/>
            </a:br>
            <a:r>
              <a:rPr lang="he-IL" dirty="0"/>
              <a:t>חלוקה הוגנת של משימות</a:t>
            </a:r>
            <a:br>
              <a:rPr lang="en-US" dirty="0"/>
            </a:b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670086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3DDA3-B672-F25D-7791-DD1CAFDBF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6039" y="262128"/>
            <a:ext cx="2299922" cy="552995"/>
          </a:xfrm>
        </p:spPr>
        <p:txBody>
          <a:bodyPr>
            <a:normAutofit/>
          </a:bodyPr>
          <a:lstStyle/>
          <a:p>
            <a:r>
              <a:rPr lang="he-IL" sz="2000" u="sng" dirty="0"/>
              <a:t>סיכונים שהתממשו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E8C91-1F13-80F4-4151-16C3A7AB3D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-816429" y="1328056"/>
            <a:ext cx="5212080" cy="4991318"/>
          </a:xfrm>
        </p:spPr>
        <p:txBody>
          <a:bodyPr>
            <a:normAutofit/>
          </a:bodyPr>
          <a:lstStyle/>
          <a:p>
            <a:pPr algn="r">
              <a:lnSpc>
                <a:spcPct val="150000"/>
              </a:lnSpc>
            </a:pPr>
            <a:r>
              <a:rPr lang="he-IL" sz="1600" b="1" dirty="0"/>
              <a:t>התמודדות עם הסיכונים</a:t>
            </a:r>
            <a:endParaRPr lang="he-IL" sz="1600" dirty="0"/>
          </a:p>
          <a:p>
            <a:pPr marL="0" indent="0" algn="r">
              <a:lnSpc>
                <a:spcPct val="150000"/>
              </a:lnSpc>
              <a:buNone/>
            </a:pPr>
            <a:endParaRPr lang="he-IL" sz="1600" dirty="0"/>
          </a:p>
          <a:p>
            <a:pPr marL="0" indent="0" algn="r">
              <a:lnSpc>
                <a:spcPct val="200000"/>
              </a:lnSpc>
              <a:buNone/>
            </a:pPr>
            <a:r>
              <a:rPr lang="he-IL" sz="1600" dirty="0"/>
              <a:t>גמישות בחלוקת המשימות</a:t>
            </a:r>
          </a:p>
          <a:p>
            <a:pPr algn="r">
              <a:lnSpc>
                <a:spcPct val="200000"/>
              </a:lnSpc>
            </a:pPr>
            <a:r>
              <a:rPr lang="he-IL" sz="1600" dirty="0"/>
              <a:t>תמיכה הדדית והעברת ידע בתוך הצוות</a:t>
            </a:r>
          </a:p>
          <a:p>
            <a:pPr algn="r">
              <a:lnSpc>
                <a:spcPct val="200000"/>
              </a:lnSpc>
            </a:pPr>
            <a:r>
              <a:rPr lang="he-IL" sz="1600" dirty="0"/>
              <a:t>שימוש בגיבוי זוגי לכל משימה</a:t>
            </a:r>
          </a:p>
          <a:p>
            <a:pPr algn="r">
              <a:lnSpc>
                <a:spcPct val="200000"/>
              </a:lnSpc>
            </a:pPr>
            <a:r>
              <a:rPr lang="he-IL" sz="1600" dirty="0"/>
              <a:t>עדכונים שוטפים בקבוצת </a:t>
            </a:r>
            <a:r>
              <a:rPr lang="he-IL" sz="1600" dirty="0" err="1"/>
              <a:t>הוואצאפ</a:t>
            </a:r>
            <a:endParaRPr lang="en-US" sz="1600" dirty="0"/>
          </a:p>
          <a:p>
            <a:pPr algn="r">
              <a:lnSpc>
                <a:spcPct val="150000"/>
              </a:lnSpc>
            </a:pPr>
            <a:endParaRPr lang="he-IL" sz="1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1C0C65-159B-EFFD-7602-DB4A7F51F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27469" y="1328056"/>
            <a:ext cx="5212080" cy="4991318"/>
          </a:xfrm>
        </p:spPr>
        <p:txBody>
          <a:bodyPr>
            <a:normAutofit/>
          </a:bodyPr>
          <a:lstStyle/>
          <a:p>
            <a:pPr algn="r"/>
            <a:r>
              <a:rPr lang="he-IL" sz="1600" b="1" dirty="0"/>
              <a:t>סיכונים מרכזיים</a:t>
            </a:r>
            <a:endParaRPr lang="he-IL" sz="1600" dirty="0"/>
          </a:p>
          <a:p>
            <a:pPr algn="r"/>
            <a:endParaRPr lang="he-IL" sz="1600" dirty="0"/>
          </a:p>
          <a:p>
            <a:pPr algn="r">
              <a:lnSpc>
                <a:spcPct val="250000"/>
              </a:lnSpc>
            </a:pPr>
            <a:r>
              <a:rPr lang="he-IL" sz="1600" dirty="0"/>
              <a:t>קושי בתיאום זמני עבודה בין חברי הצוות</a:t>
            </a:r>
          </a:p>
          <a:p>
            <a:pPr algn="r">
              <a:lnSpc>
                <a:spcPct val="250000"/>
              </a:lnSpc>
            </a:pPr>
            <a:r>
              <a:rPr lang="he-IL" sz="1600" dirty="0"/>
              <a:t>חוסר ניסיון/ידע בכלים טכניים מסוימים</a:t>
            </a:r>
          </a:p>
          <a:p>
            <a:pPr algn="r">
              <a:lnSpc>
                <a:spcPct val="250000"/>
              </a:lnSpc>
            </a:pPr>
            <a:r>
              <a:rPr lang="he-IL" sz="1600" dirty="0"/>
              <a:t>עומס בתקופות מבחנים והגשות</a:t>
            </a:r>
          </a:p>
          <a:p>
            <a:pPr algn="r"/>
            <a:endParaRPr lang="he-IL" sz="1600" dirty="0"/>
          </a:p>
        </p:txBody>
      </p:sp>
    </p:spTree>
    <p:extLst>
      <p:ext uri="{BB962C8B-B14F-4D97-AF65-F5344CB8AC3E}">
        <p14:creationId xmlns:p14="http://schemas.microsoft.com/office/powerpoint/2010/main" val="1295541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CB874-390B-F9E9-E349-1388B3D49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3622" y="391668"/>
            <a:ext cx="2560321" cy="533399"/>
          </a:xfrm>
        </p:spPr>
        <p:txBody>
          <a:bodyPr>
            <a:normAutofit/>
          </a:bodyPr>
          <a:lstStyle/>
          <a:p>
            <a:r>
              <a:rPr lang="he-IL" sz="2000" u="sng" dirty="0"/>
              <a:t>שאלות שעלו להחלטה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270DFC-0D45-6B2C-1FBC-409C44A733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1564395"/>
            <a:ext cx="5212080" cy="4635237"/>
          </a:xfrm>
        </p:spPr>
        <p:txBody>
          <a:bodyPr>
            <a:normAutofit/>
          </a:bodyPr>
          <a:lstStyle/>
          <a:p>
            <a:pPr algn="r"/>
            <a:r>
              <a:rPr lang="he-IL" sz="1600" b="1" dirty="0"/>
              <a:t>קריטריונים לבחירה</a:t>
            </a:r>
            <a:endParaRPr lang="he-IL" sz="1600" dirty="0"/>
          </a:p>
          <a:p>
            <a:pPr algn="r"/>
            <a:r>
              <a:rPr lang="he-IL" sz="1600" dirty="0"/>
              <a:t>יעילות</a:t>
            </a:r>
          </a:p>
          <a:p>
            <a:pPr algn="r"/>
            <a:r>
              <a:rPr lang="he-IL" sz="1600" dirty="0"/>
              <a:t>עמידה בלוחות זמנים</a:t>
            </a:r>
          </a:p>
          <a:p>
            <a:pPr algn="r"/>
            <a:r>
              <a:rPr lang="he-IL" sz="1600" dirty="0"/>
              <a:t>הוגנות</a:t>
            </a:r>
          </a:p>
          <a:p>
            <a:pPr algn="r"/>
            <a:r>
              <a:rPr lang="he-IL" sz="1600" dirty="0"/>
              <a:t>איכות התוצר</a:t>
            </a:r>
          </a:p>
          <a:p>
            <a:pPr algn="r"/>
            <a:endParaRPr lang="he-IL" sz="1600" b="1" dirty="0"/>
          </a:p>
          <a:p>
            <a:pPr algn="r"/>
            <a:r>
              <a:rPr lang="he-IL" sz="1600" b="1" dirty="0"/>
              <a:t>מודל קבלת החלטות</a:t>
            </a:r>
            <a:endParaRPr lang="he-IL" sz="1600" dirty="0"/>
          </a:p>
          <a:p>
            <a:pPr algn="r"/>
            <a:r>
              <a:rPr lang="he-IL" sz="1600" dirty="0"/>
              <a:t>דיון קבוצתי</a:t>
            </a:r>
          </a:p>
          <a:p>
            <a:pPr algn="r"/>
            <a:r>
              <a:rPr lang="he-IL" sz="1600" dirty="0"/>
              <a:t>הצבעה במקרה של חוסר הסכמה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7C97F2-4FEB-1941-D692-9615D7DA08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1564395"/>
            <a:ext cx="5212080" cy="4635237"/>
          </a:xfrm>
        </p:spPr>
        <p:txBody>
          <a:bodyPr>
            <a:noAutofit/>
          </a:bodyPr>
          <a:lstStyle/>
          <a:p>
            <a:pPr algn="r"/>
            <a:r>
              <a:rPr lang="he-IL" sz="1600" b="1" dirty="0"/>
              <a:t>שאלות מרכזיות</a:t>
            </a:r>
            <a:endParaRPr lang="he-IL" sz="1600" dirty="0"/>
          </a:p>
          <a:p>
            <a:pPr algn="r"/>
            <a:r>
              <a:rPr lang="he-IL" sz="1600" dirty="0"/>
              <a:t>כיצד לחלק משימות בין חברי הצוות?</a:t>
            </a:r>
          </a:p>
          <a:p>
            <a:pPr algn="r"/>
            <a:r>
              <a:rPr lang="he-IL" sz="1600" dirty="0"/>
              <a:t>באילו כלים טכנולוגיים להשתמש?</a:t>
            </a:r>
          </a:p>
          <a:p>
            <a:pPr algn="r"/>
            <a:r>
              <a:rPr lang="he-IL" sz="1600" dirty="0"/>
              <a:t>כיצד להתמודד עם עומס וחוסר זמן?</a:t>
            </a:r>
          </a:p>
          <a:p>
            <a:pPr algn="r"/>
            <a:endParaRPr lang="he-IL" sz="1600" b="1" dirty="0"/>
          </a:p>
          <a:p>
            <a:pPr algn="r"/>
            <a:r>
              <a:rPr lang="he-IL" sz="1600" b="1" dirty="0"/>
              <a:t>חלופות</a:t>
            </a:r>
            <a:endParaRPr lang="he-IL" sz="1600" dirty="0"/>
          </a:p>
          <a:p>
            <a:pPr algn="r"/>
            <a:r>
              <a:rPr lang="he-IL" sz="1600" dirty="0"/>
              <a:t>חלוקה שווה בין כולם</a:t>
            </a:r>
          </a:p>
          <a:p>
            <a:pPr algn="r"/>
            <a:r>
              <a:rPr lang="he-IL" sz="1600" dirty="0"/>
              <a:t>חלוקה לפי תחומי חוזק</a:t>
            </a:r>
          </a:p>
          <a:p>
            <a:pPr algn="r"/>
            <a:r>
              <a:rPr lang="he-IL" sz="1600" dirty="0"/>
              <a:t>עבודה בזוגות עם גיבוי</a:t>
            </a:r>
          </a:p>
          <a:p>
            <a:pPr algn="r"/>
            <a:endParaRPr lang="he-IL" sz="1600" dirty="0"/>
          </a:p>
          <a:p>
            <a:pPr algn="r"/>
            <a:endParaRPr lang="he-IL" sz="1600" dirty="0"/>
          </a:p>
        </p:txBody>
      </p:sp>
    </p:spTree>
    <p:extLst>
      <p:ext uri="{BB962C8B-B14F-4D97-AF65-F5344CB8AC3E}">
        <p14:creationId xmlns:p14="http://schemas.microsoft.com/office/powerpoint/2010/main" val="631874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BE5F-EE15-6454-48C0-A4554F776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2674" y="183542"/>
            <a:ext cx="2739548" cy="474827"/>
          </a:xfrm>
        </p:spPr>
        <p:txBody>
          <a:bodyPr>
            <a:normAutofit/>
          </a:bodyPr>
          <a:lstStyle/>
          <a:p>
            <a:r>
              <a:rPr lang="he-IL" sz="2000" u="sng" dirty="0"/>
              <a:t>ההחלטה והאפקטיביות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64B5D-9ED1-1A13-621D-82F860144D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0992" y="2495320"/>
            <a:ext cx="5212080" cy="2343728"/>
          </a:xfrm>
        </p:spPr>
        <p:txBody>
          <a:bodyPr>
            <a:normAutofit/>
          </a:bodyPr>
          <a:lstStyle/>
          <a:p>
            <a:pPr algn="r"/>
            <a:r>
              <a:rPr lang="he-IL" sz="1600" b="1" dirty="0"/>
              <a:t>בסיכום התהליך</a:t>
            </a:r>
          </a:p>
          <a:p>
            <a:pPr algn="r"/>
            <a:r>
              <a:rPr lang="he-IL" sz="1600" dirty="0"/>
              <a:t>ההחלטה התאימה לצוות</a:t>
            </a:r>
          </a:p>
          <a:p>
            <a:pPr algn="r"/>
            <a:r>
              <a:rPr lang="he-IL" sz="1600" dirty="0"/>
              <a:t>אפשרה גמישות והתמודדות עם עומס</a:t>
            </a:r>
          </a:p>
          <a:p>
            <a:endParaRPr lang="he-IL" sz="1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CFDBA5-89D9-92BC-20F7-EA9F8C9F50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52791" y="1134736"/>
            <a:ext cx="5212080" cy="5064895"/>
          </a:xfrm>
        </p:spPr>
        <p:txBody>
          <a:bodyPr>
            <a:normAutofit/>
          </a:bodyPr>
          <a:lstStyle/>
          <a:p>
            <a:pPr algn="r"/>
            <a:r>
              <a:rPr lang="he-IL" sz="1600" b="1" dirty="0"/>
              <a:t>ההחלטה שהתקבלה</a:t>
            </a:r>
            <a:endParaRPr lang="he-IL" sz="1600" dirty="0"/>
          </a:p>
          <a:p>
            <a:pPr algn="r"/>
            <a:r>
              <a:rPr lang="he-IL" sz="1600" dirty="0"/>
              <a:t>חלוקת משימות לפי תחומי חוזק</a:t>
            </a:r>
          </a:p>
          <a:p>
            <a:pPr algn="r"/>
            <a:r>
              <a:rPr lang="he-IL" sz="1600" dirty="0"/>
              <a:t>עבודה בזוגות עם אחראי וגיבוי</a:t>
            </a:r>
          </a:p>
          <a:p>
            <a:pPr algn="r"/>
            <a:r>
              <a:rPr lang="he-IL" sz="1600" dirty="0"/>
              <a:t>שמירה על קבלת החלטות משותפת</a:t>
            </a:r>
          </a:p>
          <a:p>
            <a:pPr algn="r"/>
            <a:endParaRPr lang="he-IL" sz="1600" b="1" dirty="0"/>
          </a:p>
          <a:p>
            <a:pPr algn="r"/>
            <a:endParaRPr lang="he-IL" sz="1600" b="1" dirty="0"/>
          </a:p>
          <a:p>
            <a:pPr algn="r"/>
            <a:r>
              <a:rPr lang="he-IL" sz="1600" b="1" dirty="0"/>
              <a:t>האפקטיביות לצוות</a:t>
            </a:r>
            <a:endParaRPr lang="he-IL" sz="1600" dirty="0"/>
          </a:p>
          <a:p>
            <a:pPr algn="r"/>
            <a:r>
              <a:rPr lang="he-IL" sz="1600" dirty="0"/>
              <a:t>שיפור בקצב ההתקדמות</a:t>
            </a:r>
          </a:p>
          <a:p>
            <a:pPr algn="r"/>
            <a:r>
              <a:rPr lang="he-IL" sz="1600" dirty="0"/>
              <a:t>ירידה בעומס על חברי הצוות</a:t>
            </a:r>
          </a:p>
          <a:p>
            <a:pPr algn="r"/>
            <a:r>
              <a:rPr lang="he-IL" sz="1600" dirty="0"/>
              <a:t>אחריות ברורה לכל משימה</a:t>
            </a:r>
          </a:p>
          <a:p>
            <a:pPr algn="r"/>
            <a:r>
              <a:rPr lang="he-IL" sz="1600" dirty="0"/>
              <a:t>שיפור באיכות התוצר</a:t>
            </a:r>
          </a:p>
          <a:p>
            <a:pPr algn="r"/>
            <a:endParaRPr lang="he-IL" sz="1600" dirty="0"/>
          </a:p>
        </p:txBody>
      </p:sp>
    </p:spTree>
    <p:extLst>
      <p:ext uri="{BB962C8B-B14F-4D97-AF65-F5344CB8AC3E}">
        <p14:creationId xmlns:p14="http://schemas.microsoft.com/office/powerpoint/2010/main" val="1990081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44B46-C8A2-32C6-76F4-5978D6D57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6068" y="161506"/>
            <a:ext cx="2662430" cy="496862"/>
          </a:xfrm>
        </p:spPr>
        <p:txBody>
          <a:bodyPr>
            <a:normAutofit/>
          </a:bodyPr>
          <a:lstStyle/>
          <a:p>
            <a:r>
              <a:rPr lang="he-IL" sz="2000" u="sng" dirty="0"/>
              <a:t>סגנונות תקשורת בצוות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484D5-570F-58D1-E111-FB77A53F58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0992" y="2500828"/>
            <a:ext cx="5212080" cy="2024239"/>
          </a:xfrm>
        </p:spPr>
        <p:txBody>
          <a:bodyPr>
            <a:normAutofit/>
          </a:bodyPr>
          <a:lstStyle/>
          <a:p>
            <a:pPr algn="r"/>
            <a:r>
              <a:rPr lang="he-IL" sz="1600" b="1" dirty="0"/>
              <a:t>התמודדות עם קונפליקטים</a:t>
            </a:r>
            <a:endParaRPr lang="he-IL" sz="1600" dirty="0"/>
          </a:p>
          <a:p>
            <a:pPr algn="r"/>
            <a:r>
              <a:rPr lang="he-IL" sz="1600" dirty="0"/>
              <a:t>העלאת קושי בזמן אמת</a:t>
            </a:r>
          </a:p>
          <a:p>
            <a:pPr algn="r"/>
            <a:r>
              <a:rPr lang="he-IL" sz="1600" dirty="0"/>
              <a:t>דיון פתוח ומכבד</a:t>
            </a:r>
          </a:p>
          <a:p>
            <a:pPr algn="r"/>
            <a:r>
              <a:rPr lang="he-IL" sz="1600" dirty="0"/>
              <a:t>תיווך של אחראי הצוות במידת הצורך</a:t>
            </a:r>
          </a:p>
          <a:p>
            <a:pPr algn="r"/>
            <a:endParaRPr lang="he-IL" sz="1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E40F50-D559-C218-29A3-CD1789C83F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90118" y="1531345"/>
            <a:ext cx="5212080" cy="5075912"/>
          </a:xfrm>
        </p:spPr>
        <p:txBody>
          <a:bodyPr>
            <a:normAutofit/>
          </a:bodyPr>
          <a:lstStyle/>
          <a:p>
            <a:pPr algn="r"/>
            <a:r>
              <a:rPr lang="he-IL" sz="1600" b="1" dirty="0"/>
              <a:t>סגנונות תקשורת שהופיעו בצוות</a:t>
            </a:r>
            <a:endParaRPr lang="he-IL" sz="1600" dirty="0"/>
          </a:p>
          <a:p>
            <a:pPr algn="r"/>
            <a:r>
              <a:rPr lang="he-IL" sz="1600" dirty="0"/>
              <a:t>תקשורת ישירה וממוקדת</a:t>
            </a:r>
          </a:p>
          <a:p>
            <a:pPr algn="r"/>
            <a:r>
              <a:rPr lang="he-IL" sz="1600" dirty="0"/>
              <a:t>תקשורת שיתופית ומקשיבה</a:t>
            </a:r>
          </a:p>
          <a:p>
            <a:pPr algn="r"/>
            <a:r>
              <a:rPr lang="he-IL" sz="1600" dirty="0"/>
              <a:t>סגנון יוזם מול סגנון מבצע</a:t>
            </a:r>
          </a:p>
          <a:p>
            <a:pPr algn="r"/>
            <a:endParaRPr lang="he-IL" sz="1600" b="1" dirty="0"/>
          </a:p>
          <a:p>
            <a:pPr algn="r"/>
            <a:endParaRPr lang="he-IL" sz="1600" b="1" dirty="0"/>
          </a:p>
          <a:p>
            <a:pPr algn="r"/>
            <a:r>
              <a:rPr lang="he-IL" sz="1600" b="1" dirty="0"/>
              <a:t>החיבור בין הסגנונות</a:t>
            </a:r>
            <a:endParaRPr lang="he-IL" sz="1600" dirty="0"/>
          </a:p>
          <a:p>
            <a:pPr algn="r"/>
            <a:r>
              <a:rPr lang="he-IL" sz="1600" dirty="0"/>
              <a:t>שילוב בין הובלה לביצוע</a:t>
            </a:r>
          </a:p>
          <a:p>
            <a:pPr algn="r"/>
            <a:r>
              <a:rPr lang="he-IL" sz="1600" dirty="0"/>
              <a:t>הקשבה הדדית וכבוד לדעות שונות</a:t>
            </a:r>
          </a:p>
          <a:p>
            <a:pPr algn="r"/>
            <a:r>
              <a:rPr lang="he-IL" sz="1600" dirty="0"/>
              <a:t>פתרון </a:t>
            </a:r>
            <a:r>
              <a:rPr lang="he-IL" sz="1600" dirty="0" err="1"/>
              <a:t>אי־הבנות</a:t>
            </a:r>
            <a:r>
              <a:rPr lang="he-IL" sz="1600" dirty="0"/>
              <a:t> דרך שיח פתוח</a:t>
            </a:r>
          </a:p>
          <a:p>
            <a:pPr algn="r"/>
            <a:endParaRPr lang="he-IL" sz="1600" dirty="0"/>
          </a:p>
        </p:txBody>
      </p:sp>
    </p:spTree>
    <p:extLst>
      <p:ext uri="{BB962C8B-B14F-4D97-AF65-F5344CB8AC3E}">
        <p14:creationId xmlns:p14="http://schemas.microsoft.com/office/powerpoint/2010/main" val="2150779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728B4-5442-B82B-065B-B50763439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6993" y="238624"/>
            <a:ext cx="1858198" cy="419744"/>
          </a:xfrm>
        </p:spPr>
        <p:txBody>
          <a:bodyPr>
            <a:normAutofit/>
          </a:bodyPr>
          <a:lstStyle/>
          <a:p>
            <a:r>
              <a:rPr lang="he-IL" sz="2000" u="sng" dirty="0"/>
              <a:t>תובנה שנלמדה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BC59DC-8C35-6AC6-E0C5-3AC8C3D8C2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1176" y="1399142"/>
            <a:ext cx="10109832" cy="4800490"/>
          </a:xfrm>
        </p:spPr>
        <p:txBody>
          <a:bodyPr>
            <a:normAutofit/>
          </a:bodyPr>
          <a:lstStyle/>
          <a:p>
            <a:pPr algn="r">
              <a:lnSpc>
                <a:spcPct val="150000"/>
              </a:lnSpc>
            </a:pPr>
            <a:r>
              <a:rPr lang="he-IL" sz="1600" b="1" dirty="0"/>
              <a:t>תובנה קבוצתית מרכזית</a:t>
            </a:r>
            <a:endParaRPr lang="he-IL" sz="1600" dirty="0"/>
          </a:p>
          <a:p>
            <a:pPr algn="r">
              <a:lnSpc>
                <a:spcPct val="150000"/>
              </a:lnSpc>
            </a:pPr>
            <a:r>
              <a:rPr lang="he-IL" sz="1600" dirty="0"/>
              <a:t>חשיבות של תקשורת פתוחה ושקופה</a:t>
            </a:r>
          </a:p>
          <a:p>
            <a:pPr algn="r">
              <a:lnSpc>
                <a:spcPct val="150000"/>
              </a:lnSpc>
            </a:pPr>
            <a:r>
              <a:rPr lang="he-IL" sz="1600" dirty="0"/>
              <a:t>חלוקה ברורה של תפקידים מונעת בלבול</a:t>
            </a:r>
          </a:p>
          <a:p>
            <a:pPr algn="r">
              <a:lnSpc>
                <a:spcPct val="150000"/>
              </a:lnSpc>
            </a:pPr>
            <a:r>
              <a:rPr lang="he-IL" sz="1600" dirty="0"/>
              <a:t>גמישות בצוות מאפשרת התמודדות עם עומס ושינויים</a:t>
            </a:r>
          </a:p>
          <a:p>
            <a:pPr marL="0" indent="0" algn="r">
              <a:lnSpc>
                <a:spcPct val="150000"/>
              </a:lnSpc>
              <a:buNone/>
            </a:pPr>
            <a:endParaRPr lang="he-IL" sz="1600" b="1" dirty="0"/>
          </a:p>
          <a:p>
            <a:pPr algn="r">
              <a:lnSpc>
                <a:spcPct val="150000"/>
              </a:lnSpc>
            </a:pPr>
            <a:r>
              <a:rPr lang="he-IL" sz="1600" b="1" dirty="0"/>
              <a:t>תובנה אישית לדוגמה (חבר צוות)</a:t>
            </a:r>
            <a:endParaRPr lang="he-IL" sz="1600" dirty="0"/>
          </a:p>
          <a:p>
            <a:pPr algn="r">
              <a:lnSpc>
                <a:spcPct val="150000"/>
              </a:lnSpc>
            </a:pPr>
            <a:r>
              <a:rPr lang="he-IL" sz="1600" dirty="0"/>
              <a:t>“למדתי עד כמה חשוב להביע את הקשיים שלי בזמן אמת, כדי שהצוות יכול לסייע ולהתקדם יחד.”</a:t>
            </a:r>
          </a:p>
          <a:p>
            <a:pPr algn="r">
              <a:lnSpc>
                <a:spcPct val="150000"/>
              </a:lnSpc>
            </a:pPr>
            <a:endParaRPr lang="he-IL" sz="1600" dirty="0"/>
          </a:p>
        </p:txBody>
      </p:sp>
    </p:spTree>
    <p:extLst>
      <p:ext uri="{BB962C8B-B14F-4D97-AF65-F5344CB8AC3E}">
        <p14:creationId xmlns:p14="http://schemas.microsoft.com/office/powerpoint/2010/main" val="1828296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46496-40DA-CC28-D65D-1F80FCA27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8264" y="360912"/>
            <a:ext cx="1803114" cy="444421"/>
          </a:xfrm>
        </p:spPr>
        <p:txBody>
          <a:bodyPr>
            <a:normAutofit/>
          </a:bodyPr>
          <a:lstStyle/>
          <a:p>
            <a:r>
              <a:rPr lang="he-IL" sz="2000" dirty="0"/>
              <a:t>מסקנות כצוות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822527-6273-7745-96EA-95A00AD8C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8631" y="1255923"/>
            <a:ext cx="11354738" cy="5241165"/>
          </a:xfrm>
        </p:spPr>
        <p:txBody>
          <a:bodyPr>
            <a:noAutofit/>
          </a:bodyPr>
          <a:lstStyle/>
          <a:p>
            <a:pPr algn="r"/>
            <a:r>
              <a:rPr lang="he-IL" sz="1600" b="1" dirty="0"/>
              <a:t>מסקנות מרכזיות</a:t>
            </a:r>
            <a:endParaRPr lang="he-IL" sz="1600" dirty="0"/>
          </a:p>
          <a:p>
            <a:pPr algn="r"/>
            <a:r>
              <a:rPr lang="he-IL" sz="1600" dirty="0"/>
              <a:t>תהליך העבודה חשוב לא פחות מהתוצר – תיאום ציפיות ותקשורת ברורה עושים את ההבדל</a:t>
            </a:r>
          </a:p>
          <a:p>
            <a:pPr algn="r"/>
            <a:r>
              <a:rPr lang="he-IL" sz="1600" dirty="0"/>
              <a:t>חלוקת תפקידים ברורה ומודל שיתופי תורמים ליעילות ואחריות אישית</a:t>
            </a:r>
          </a:p>
          <a:p>
            <a:pPr algn="r"/>
            <a:r>
              <a:rPr lang="he-IL" sz="1600" dirty="0"/>
              <a:t>גמישות והתאמה בזמן אמת מאפשרות להתמודד עם עומס או בעיות בלתי צפויות</a:t>
            </a:r>
          </a:p>
          <a:p>
            <a:pPr algn="r"/>
            <a:r>
              <a:rPr lang="he-IL" sz="1600" dirty="0"/>
              <a:t>תמיכה הדדית ושיתוף ידע מחזקות את הצוות ומאפשרות למידה משותפת</a:t>
            </a:r>
          </a:p>
          <a:p>
            <a:pPr algn="r"/>
            <a:endParaRPr lang="he-IL" sz="1600" b="1" dirty="0"/>
          </a:p>
          <a:p>
            <a:pPr algn="r"/>
            <a:r>
              <a:rPr lang="he-IL" sz="1600" b="1" dirty="0"/>
              <a:t>כללי עבודה יעילים</a:t>
            </a:r>
            <a:endParaRPr lang="he-IL" sz="1600" dirty="0"/>
          </a:p>
          <a:p>
            <a:pPr algn="r"/>
            <a:r>
              <a:rPr lang="he-IL" sz="1600" dirty="0"/>
              <a:t>מסמך הסכמות בתחילת הדרך</a:t>
            </a:r>
          </a:p>
          <a:p>
            <a:pPr algn="r"/>
            <a:r>
              <a:rPr lang="he-IL" sz="1600" dirty="0"/>
              <a:t>מפגשים קבועים ותיעוד מסודר</a:t>
            </a:r>
          </a:p>
          <a:p>
            <a:pPr algn="r"/>
            <a:r>
              <a:rPr lang="he-IL" sz="1600" dirty="0"/>
              <a:t>משוב פתוח ודיון על קונפליקטים באופן מכבד</a:t>
            </a:r>
          </a:p>
          <a:p>
            <a:pPr algn="r"/>
            <a:endParaRPr lang="he-IL" sz="1600" dirty="0"/>
          </a:p>
        </p:txBody>
      </p:sp>
    </p:spTree>
    <p:extLst>
      <p:ext uri="{BB962C8B-B14F-4D97-AF65-F5344CB8AC3E}">
        <p14:creationId xmlns:p14="http://schemas.microsoft.com/office/powerpoint/2010/main" val="3044541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396D1-08A6-CC99-E712-BF729A76C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7084" y="165252"/>
            <a:ext cx="2761581" cy="662115"/>
          </a:xfrm>
        </p:spPr>
        <p:txBody>
          <a:bodyPr>
            <a:normAutofit/>
          </a:bodyPr>
          <a:lstStyle/>
          <a:p>
            <a:r>
              <a:rPr lang="he-IL" sz="2000" u="sng" dirty="0"/>
              <a:t>כלי שסייע לעבודה בצוות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FF8865-08A2-31C4-9F13-E1D79DE919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1012" y="1112704"/>
            <a:ext cx="10869996" cy="5086928"/>
          </a:xfrm>
        </p:spPr>
        <p:txBody>
          <a:bodyPr>
            <a:normAutofit/>
          </a:bodyPr>
          <a:lstStyle/>
          <a:p>
            <a:pPr algn="r"/>
            <a:r>
              <a:rPr lang="he-IL" b="1" dirty="0"/>
              <a:t>כלים עיקריים</a:t>
            </a:r>
            <a:endParaRPr lang="he-IL" dirty="0"/>
          </a:p>
          <a:p>
            <a:pPr algn="r"/>
            <a:r>
              <a:rPr lang="en-US" b="1" dirty="0"/>
              <a:t>WhatsApp / Zoom</a:t>
            </a:r>
            <a:r>
              <a:rPr lang="en-US" dirty="0"/>
              <a:t> – </a:t>
            </a:r>
            <a:r>
              <a:rPr lang="he-IL" dirty="0"/>
              <a:t>לתקשורת שוטפת, תיאום מפגשים</a:t>
            </a:r>
          </a:p>
          <a:p>
            <a:pPr algn="r"/>
            <a:r>
              <a:rPr lang="en-US" b="1" dirty="0"/>
              <a:t>Google Docs / </a:t>
            </a:r>
            <a:r>
              <a:rPr lang="en-US" b="1" dirty="0" err="1"/>
              <a:t>TodoList</a:t>
            </a:r>
            <a:r>
              <a:rPr lang="en-US" b="1" dirty="0"/>
              <a:t> / GitHub</a:t>
            </a:r>
            <a:r>
              <a:rPr lang="en-US" dirty="0"/>
              <a:t> – </a:t>
            </a:r>
            <a:r>
              <a:rPr lang="he-IL" dirty="0"/>
              <a:t>תיעוד משימות, שיתוף קבצים, מעקב אחרי התקדמות</a:t>
            </a:r>
          </a:p>
          <a:p>
            <a:pPr algn="r"/>
            <a:r>
              <a:rPr lang="en-US" b="1" dirty="0"/>
              <a:t>Eclipse / MySQL / Visual Paradigm / Git </a:t>
            </a:r>
            <a:r>
              <a:rPr lang="en-US" dirty="0"/>
              <a:t>– </a:t>
            </a:r>
            <a:r>
              <a:rPr lang="he-IL" dirty="0"/>
              <a:t>ביצוע והצגת העבודה הטכנית</a:t>
            </a:r>
          </a:p>
          <a:p>
            <a:pPr algn="r"/>
            <a:r>
              <a:rPr lang="he-IL" b="1" dirty="0"/>
              <a:t>תמיכה אקדמית</a:t>
            </a:r>
            <a:r>
              <a:rPr lang="he-IL" dirty="0"/>
              <a:t> – הנחיית המרצה וחומרים אקדמיים</a:t>
            </a:r>
          </a:p>
          <a:p>
            <a:pPr algn="r"/>
            <a:r>
              <a:rPr lang="he-IL" b="1" dirty="0"/>
              <a:t>תרומת הכלים</a:t>
            </a:r>
            <a:endParaRPr lang="he-IL" dirty="0"/>
          </a:p>
          <a:p>
            <a:pPr algn="r"/>
            <a:r>
              <a:rPr lang="he-IL" dirty="0"/>
              <a:t>שמירה על סדר וארגון</a:t>
            </a:r>
          </a:p>
          <a:p>
            <a:pPr algn="r"/>
            <a:r>
              <a:rPr lang="he-IL" dirty="0"/>
              <a:t>תיעוד ומעקב אחר משימות</a:t>
            </a:r>
            <a:r>
              <a:rPr lang="en-US" dirty="0"/>
              <a:t> </a:t>
            </a:r>
            <a:endParaRPr lang="he-IL" dirty="0"/>
          </a:p>
          <a:p>
            <a:pPr algn="r"/>
            <a:r>
              <a:rPr lang="he-IL" dirty="0"/>
              <a:t>פתרון בעיות טכניות בזמן אמת</a:t>
            </a:r>
          </a:p>
          <a:p>
            <a:pPr algn="r"/>
            <a:r>
              <a:rPr lang="he-IL" dirty="0"/>
              <a:t>תמיכה ושיתוף ידע</a:t>
            </a:r>
          </a:p>
          <a:p>
            <a:pPr algn="r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246521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A6480-5296-05E7-C59E-69474F937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296" y="415445"/>
            <a:ext cx="3301408" cy="485845"/>
          </a:xfrm>
        </p:spPr>
        <p:txBody>
          <a:bodyPr>
            <a:normAutofit/>
          </a:bodyPr>
          <a:lstStyle/>
          <a:p>
            <a:r>
              <a:rPr lang="he-IL" sz="2000" u="sng" dirty="0"/>
              <a:t>טיפ לסטודנטים בשנתון הבא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CDC3BD-6324-8158-7048-FD6E30C33D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961" y="1344058"/>
            <a:ext cx="10903047" cy="4855574"/>
          </a:xfrm>
        </p:spPr>
        <p:txBody>
          <a:bodyPr>
            <a:normAutofit/>
          </a:bodyPr>
          <a:lstStyle/>
          <a:p>
            <a:pPr algn="r">
              <a:lnSpc>
                <a:spcPct val="200000"/>
              </a:lnSpc>
            </a:pPr>
            <a:r>
              <a:rPr lang="he-IL" sz="1600" b="1" dirty="0"/>
              <a:t>טיפ מרכזי:</a:t>
            </a:r>
            <a:endParaRPr lang="he-IL" sz="1600" dirty="0"/>
          </a:p>
          <a:p>
            <a:pPr algn="r">
              <a:lnSpc>
                <a:spcPct val="200000"/>
              </a:lnSpc>
            </a:pPr>
            <a:r>
              <a:rPr lang="he-IL" sz="1600" b="1" dirty="0"/>
              <a:t>תיאום ציפיות בתחילת הדרך הוא המפתח</a:t>
            </a:r>
            <a:endParaRPr lang="he-IL" sz="1600" dirty="0"/>
          </a:p>
          <a:p>
            <a:pPr algn="r">
              <a:lnSpc>
                <a:spcPct val="200000"/>
              </a:lnSpc>
            </a:pPr>
            <a:r>
              <a:rPr lang="he-IL" sz="1600" dirty="0"/>
              <a:t>קבעו מסמך הסכמות ברור: תפקידים, גבולות, חלוקת עבודה וכללי תקשורת</a:t>
            </a:r>
          </a:p>
          <a:p>
            <a:pPr algn="r">
              <a:lnSpc>
                <a:spcPct val="200000"/>
              </a:lnSpc>
            </a:pPr>
            <a:r>
              <a:rPr lang="he-IL" sz="1600" dirty="0"/>
              <a:t>שמרו על גמישות ותמיכה הדדית לאורך הפרויקט</a:t>
            </a:r>
          </a:p>
          <a:p>
            <a:pPr algn="r">
              <a:lnSpc>
                <a:spcPct val="200000"/>
              </a:lnSpc>
            </a:pPr>
            <a:r>
              <a:rPr lang="he-IL" sz="1600" dirty="0"/>
              <a:t>תקשורת פתוחה בזמן אמת מונעת </a:t>
            </a:r>
            <a:r>
              <a:rPr lang="he-IL" sz="1600" dirty="0" err="1"/>
              <a:t>אי־הבנות</a:t>
            </a:r>
            <a:endParaRPr lang="he-IL" sz="1600" dirty="0"/>
          </a:p>
          <a:p>
            <a:pPr algn="r">
              <a:lnSpc>
                <a:spcPct val="200000"/>
              </a:lnSpc>
            </a:pPr>
            <a:endParaRPr lang="he-IL" sz="1600" dirty="0"/>
          </a:p>
        </p:txBody>
      </p:sp>
    </p:spTree>
    <p:extLst>
      <p:ext uri="{BB962C8B-B14F-4D97-AF65-F5344CB8AC3E}">
        <p14:creationId xmlns:p14="http://schemas.microsoft.com/office/powerpoint/2010/main" val="1891523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83993-D71D-B520-A32D-9F130BDC0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2164" y="187286"/>
            <a:ext cx="1296338" cy="573980"/>
          </a:xfrm>
        </p:spPr>
        <p:txBody>
          <a:bodyPr>
            <a:normAutofit/>
          </a:bodyPr>
          <a:lstStyle/>
          <a:p>
            <a:r>
              <a:rPr lang="he-IL" sz="2000" u="sng" dirty="0"/>
              <a:t>רפלקציה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989D8117-5204-214C-2516-2F762B2BAE7C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738131" y="1413063"/>
            <a:ext cx="10991773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he-IL" altLang="he-IL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he-IL" altLang="he-IL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שיקוף על התנסויות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הצלחנו להתמודד עם עיכובים ובעיות בזכות גמישות וחלוקת משימות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he-IL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he-IL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he-IL" altLang="he-IL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פעולה בעתיד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ניישם מסמך הסכמות ברור עוד יותר, נקיים חזרות קצרות ונקפיד על עדכון כלים מראש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he-IL" alt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he-IL" altLang="he-IL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he-IL" altLang="he-IL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he-IL" altLang="he-IL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מודעות עצמית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כל אחד למד על הדרך שבה הוא מתמודד עם עומס, בקשת עזרה ושיתוף ידע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he-IL" alt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br>
              <a:rPr kumimoji="0" lang="en-US" altLang="he-I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he-IL" altLang="he-IL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סובייקטיבי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כל חבר צוות חווה את התהליך באופן אישי, עם תחושות שונות לגבי הצלחות ואתגרים</a:t>
            </a:r>
            <a:endParaRPr lang="en-US" alt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he-IL" altLang="he-IL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868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11654-8CD9-3DBA-92B3-9B5CABC1E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4704" y="184092"/>
            <a:ext cx="1125924" cy="706182"/>
          </a:xfrm>
        </p:spPr>
        <p:txBody>
          <a:bodyPr>
            <a:normAutofit/>
          </a:bodyPr>
          <a:lstStyle/>
          <a:p>
            <a:r>
              <a:rPr lang="he-IL" sz="2400" u="sng" dirty="0"/>
              <a:t>סיום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1C29D7-F73F-F716-6CC7-177B9F259F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03468" y="5872541"/>
            <a:ext cx="2785064" cy="801367"/>
          </a:xfrm>
        </p:spPr>
        <p:txBody>
          <a:bodyPr>
            <a:noAutofit/>
          </a:bodyPr>
          <a:lstStyle/>
          <a:p>
            <a:r>
              <a:rPr lang="he-IL" sz="2400" b="1" dirty="0"/>
              <a:t>תודה רבה לכם.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96C1932-C179-1742-08E3-0A85551F12C2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85590" y="1150947"/>
            <a:ext cx="11200502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he-IL" altLang="he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he-IL" altLang="he-I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תקשורת ברורה, תיאום ציפיות וחלוקת תפקידים – הבסיס לעבודה </a:t>
            </a:r>
            <a:r>
              <a:rPr kumimoji="0" lang="he-IL" altLang="he-I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צוותית</a:t>
            </a:r>
            <a:r>
              <a:rPr kumimoji="0" lang="he-IL" altLang="he-I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מוצלחת</a:t>
            </a:r>
            <a:endParaRPr kumimoji="0" lang="he-IL" altLang="he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br>
              <a:rPr kumimoji="0" lang="en-US" altLang="he-I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he-IL" altLang="he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עבודה שיתופית וגמישות מאפשרות להתמודד עם עומס ובעיות בלתי צפויות</a:t>
            </a:r>
            <a:endParaRPr kumimoji="0" lang="he-IL" altLang="he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he-IL" altLang="he-IL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he-IL" altLang="he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he-IL" altLang="he-I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רפלקציה ולמידה אישית וקבוצתית מאפשרות שיפור מתמיד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he-IL" altLang="he-IL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he-IL" altLang="he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he-IL" altLang="he-IL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kumimoji="0" lang="he-IL" altLang="he-I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תיזכרו טוב את המשפט הזה!</a:t>
            </a:r>
            <a:endParaRPr kumimoji="0" lang="en-US" altLang="he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br>
              <a:rPr kumimoji="0" lang="en-US" altLang="he-I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e-IL" sz="1800" dirty="0"/>
              <a:t>תהליך עבודה נכון לא רק מייצר תוצר – הוא בונה צוות חזק שמוכן להתמודד עם כל אתגר.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he-IL" altLang="he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6634040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755</Words>
  <Application>Microsoft Office PowerPoint</Application>
  <PresentationFormat>Widescreen</PresentationFormat>
  <Paragraphs>144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Rounded MT Bold</vt:lpstr>
      <vt:lpstr>Grandview Display</vt:lpstr>
      <vt:lpstr>Neue Haas Grotesk Text Pro</vt:lpstr>
      <vt:lpstr>DashVTI</vt:lpstr>
      <vt:lpstr>BISTRO   -שם הקורס: שיטות הנדסיות לפיתוח מערכות תוכנה   -חברי הצוות:  מוחמד דחאברה מוחמד בדארנה עאדל בשיר ויקטור מועלם אסראא חוסין    תהליך עבודת הצוות והלמידה ממנו</vt:lpstr>
      <vt:lpstr>מסמך ההסכמות (תמצית)</vt:lpstr>
      <vt:lpstr>תהליך העבודה: רצוי מול מצוי      </vt:lpstr>
      <vt:lpstr>סיכונים שהתממשו</vt:lpstr>
      <vt:lpstr>שאלות שעלו להחלטה</vt:lpstr>
      <vt:lpstr>ההחלטה והאפקטיביות</vt:lpstr>
      <vt:lpstr>סגנונות תקשורת בצוות</vt:lpstr>
      <vt:lpstr>תובנה שנלמדה</vt:lpstr>
      <vt:lpstr>מסקנות כצוות</vt:lpstr>
      <vt:lpstr>כלי שסייע לעבודה בצוות</vt:lpstr>
      <vt:lpstr>טיפ לסטודנטים בשנתון הבא</vt:lpstr>
      <vt:lpstr>רפלקציה</vt:lpstr>
      <vt:lpstr>סיום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bdarny</dc:creator>
  <cp:lastModifiedBy>mohammed bdarny</cp:lastModifiedBy>
  <cp:revision>1</cp:revision>
  <dcterms:created xsi:type="dcterms:W3CDTF">2026-01-05T17:03:24Z</dcterms:created>
  <dcterms:modified xsi:type="dcterms:W3CDTF">2026-01-05T18:56:42Z</dcterms:modified>
</cp:coreProperties>
</file>